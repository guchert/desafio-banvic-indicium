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AYJ/Va69lNPjcBbpmKGzCDDnM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86807A-B110-4F62-B679-B13BEF000FE5}">
  <a:tblStyle styleId="{7F86807A-B110-4F62-B679-B13BEF000FE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141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607040" y="4937760"/>
            <a:ext cx="2377440" cy="2377440"/>
          </a:xfrm>
          <a:prstGeom prst="ellipse">
            <a:avLst/>
          </a:prstGeom>
          <a:solidFill>
            <a:srgbClr val="DD84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1097280" y="5394960"/>
            <a:ext cx="2926080" cy="2926080"/>
          </a:xfrm>
          <a:prstGeom prst="ellipse">
            <a:avLst/>
          </a:prstGeom>
          <a:solidFill>
            <a:srgbClr val="4C7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 txBox="1"/>
          <p:nvPr/>
        </p:nvSpPr>
        <p:spPr>
          <a:xfrm>
            <a:off x="822960" y="19659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845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D8452"/>
                </a:solidFill>
                <a:latin typeface="Calibri"/>
                <a:ea typeface="Calibri"/>
                <a:cs typeface="Calibri"/>
                <a:sym typeface="Calibri"/>
              </a:rPr>
              <a:t>DESAFIO INDICIUM · ANALISTA DE DADOS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777240" y="2331720"/>
            <a:ext cx="9601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Dashboard Comercial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BanVic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822960" y="429768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 intuição aos dados: uma proposta de cultura data-driven para a área comercial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Preparado para Camila Diniz, Diretora Comercial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C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845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D8452"/>
                </a:solidFill>
                <a:latin typeface="Calibri"/>
                <a:ea typeface="Calibri"/>
                <a:cs typeface="Calibri"/>
                <a:sym typeface="Calibri"/>
              </a:rPr>
              <a:t>ROTEIRO DA APRESENTAÇÃO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Seis etapas, do dado à decisão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1600200"/>
            <a:ext cx="352044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3C7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DD84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 txBox="1"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1371600" y="1764792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KPIs e perguntas de negócio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777240" y="237744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Indicadores comerciais definidos e justificados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297680" y="1600200"/>
            <a:ext cx="352044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3C7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526280" y="1828800"/>
            <a:ext cx="457200" cy="457200"/>
          </a:xfrm>
          <a:prstGeom prst="ellipse">
            <a:avLst/>
          </a:prstGeom>
          <a:solidFill>
            <a:srgbClr val="DD84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 txBox="1"/>
          <p:nvPr/>
        </p:nvSpPr>
        <p:spPr>
          <a:xfrm>
            <a:off x="452628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5120640" y="1764792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Análise exploratória (EDA)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4526280" y="237744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Padrões, crescimento e anomalias identificados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046720" y="1600200"/>
            <a:ext cx="352044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3C7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8275320" y="18288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 txBox="1"/>
          <p:nvPr/>
        </p:nvSpPr>
        <p:spPr>
          <a:xfrm>
            <a:off x="827532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8869680" y="1764792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Mockup do dashboard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8275320" y="237744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Hierarquia visual e storytelling desenhados no Figma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48640" y="3291840"/>
            <a:ext cx="352044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3C7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777240" y="352044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 txBox="1"/>
          <p:nvPr/>
        </p:nvSpPr>
        <p:spPr>
          <a:xfrm>
            <a:off x="777240" y="35204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1371600" y="3456432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Dashboard no Power BI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777240" y="406908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KPIs dinâmicos, medidas DAX e correções aplicadas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297680" y="3291840"/>
            <a:ext cx="352044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3C7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526280" y="352044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 txBox="1"/>
          <p:nvPr/>
        </p:nvSpPr>
        <p:spPr>
          <a:xfrm>
            <a:off x="4526280" y="35204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5120640" y="3456432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Regras de negócio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4526280" y="406908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Cada cálculo documentado e justificado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046720" y="3291840"/>
            <a:ext cx="352044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3C7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8275320" y="352044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 txBox="1"/>
          <p:nvPr/>
        </p:nvSpPr>
        <p:spPr>
          <a:xfrm>
            <a:off x="8275320" y="35204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8869680" y="3456432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Apresentação e vídeo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8275320" y="406908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Recomendações acionáveis para a área comercial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C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845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D8452"/>
                </a:solidFill>
                <a:latin typeface="Calibri"/>
                <a:ea typeface="Calibri"/>
                <a:cs typeface="Calibri"/>
                <a:sym typeface="Calibri"/>
              </a:rPr>
              <a:t>POR QUE ISSO IMPORTA AGORA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O mercado bancário já decidiu: o futuro é digital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548640" y="1554480"/>
            <a:ext cx="5943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O setor bancário brasileiro atravessa uma transformação estrutural: canais digitais ganham espaço frente às agências físicas, o Pix se tornou o meio de pagamento dominante do país, e o Open Finance intensifica a concorrência por eficiência na originação de crédito. Decisões baseadas apenas em intuição deixam essas oportunidades sobre a mesa.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858000" y="1554480"/>
            <a:ext cx="475488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3C7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7059168" y="1988820"/>
            <a:ext cx="365760" cy="365760"/>
          </a:xfrm>
          <a:prstGeom prst="ellipse">
            <a:avLst/>
          </a:prstGeom>
          <a:solidFill>
            <a:srgbClr val="DD84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 txBox="1"/>
          <p:nvPr/>
        </p:nvSpPr>
        <p:spPr>
          <a:xfrm>
            <a:off x="7059168" y="19888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7635240" y="1682496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Digitalização acelerada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7635240" y="2057400"/>
            <a:ext cx="3794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Canais digitais reduzem custo e ampliam alcance sem expansão física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858000" y="2990088"/>
            <a:ext cx="475488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3C7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7059168" y="3424428"/>
            <a:ext cx="365760" cy="365760"/>
          </a:xfrm>
          <a:prstGeom prst="ellipse">
            <a:avLst/>
          </a:prstGeom>
          <a:solidFill>
            <a:srgbClr val="4C7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 txBox="1"/>
          <p:nvPr/>
        </p:nvSpPr>
        <p:spPr>
          <a:xfrm>
            <a:off x="7059168" y="34244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7635240" y="3118104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Pix como novo padrão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7635240" y="3493008"/>
            <a:ext cx="3794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Consolidado como o meio de pagamento mais usado do país desde 2020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858000" y="4425696"/>
            <a:ext cx="475488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3C7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7059168" y="4860036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 txBox="1"/>
          <p:nvPr/>
        </p:nvSpPr>
        <p:spPr>
          <a:xfrm>
            <a:off x="7059168" y="486003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7635240" y="4553712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Pressão por eficiência em crédito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7635240" y="4928616"/>
            <a:ext cx="3794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Open Finance eleva a concorrência por conversão, não só captação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C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845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D8452"/>
                </a:solidFill>
                <a:latin typeface="Calibri"/>
                <a:ea typeface="Calibri"/>
                <a:cs typeface="Calibri"/>
                <a:sym typeface="Calibri"/>
              </a:rPr>
              <a:t>ETAPA 1 — PESQUISA E DEFINIÇÃO DE KPIS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Sete indicadores para acompanhar a área comercial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2" name="Google Shape;92;p4"/>
          <p:cNvGraphicFramePr/>
          <p:nvPr/>
        </p:nvGraphicFramePr>
        <p:xfrm>
          <a:off x="548640" y="150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{7F86807A-B110-4F62-B679-B13BEF000FE5}</a:tableStyleId>
              </a:tblPr>
              <a:tblGrid>
                <a:gridCol w="4023350"/>
                <a:gridCol w="7040875"/>
              </a:tblGrid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Indicador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 que acompanhar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Transações por cliente/mês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17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5B617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Mede diretamente o engajamento e uso recorrente do banco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Taxa de clientes inativos (ajustada)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17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5B617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Indicador oficial de risco de churn, com correção metodológica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0FA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de contas Digital vs. Física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17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5B617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Mostra a migração de canal ao longo do tempo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Ticket médio (mediana)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17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5B617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Evita distorção pela cauda longa de valores altos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0FA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Taxa de conversão do funil de crédito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17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5B617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Mede eficiência comercial na originação de crédito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Volume de transações via Pix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17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5B617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Mede adoção do canal de menor custo operacional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0FA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de propostas de crédito por canal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178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5B617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Revela se o digital converte contas em produtos rentáveis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3" name="Google Shape;93;p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C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845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D8452"/>
                </a:solidFill>
                <a:latin typeface="Calibri"/>
                <a:ea typeface="Calibri"/>
                <a:cs typeface="Calibri"/>
                <a:sym typeface="Calibri"/>
              </a:rPr>
              <a:t>ETAPA 2 — ANÁLISE EXPLORATÓRIA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A digitalização já é realidade na base de clientes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48640" y="1737360"/>
            <a:ext cx="3520440" cy="283464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3C7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2226564" y="4114800"/>
            <a:ext cx="164592" cy="164592"/>
          </a:xfrm>
          <a:prstGeom prst="ellipse">
            <a:avLst/>
          </a:prstGeom>
          <a:solidFill>
            <a:srgbClr val="DD84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 txBox="1"/>
          <p:nvPr/>
        </p:nvSpPr>
        <p:spPr>
          <a:xfrm>
            <a:off x="548640" y="2057400"/>
            <a:ext cx="3520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8452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DD8452"/>
                </a:solidFill>
                <a:latin typeface="Cambria"/>
                <a:ea typeface="Cambria"/>
                <a:cs typeface="Cambria"/>
                <a:sym typeface="Cambria"/>
              </a:rPr>
              <a:t>46%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868680" y="315468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das contas já são da Agência Digital, criada em 2015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325112" y="1737360"/>
            <a:ext cx="3520440" cy="283464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3C7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6003036" y="4114800"/>
            <a:ext cx="164592" cy="164592"/>
          </a:xfrm>
          <a:prstGeom prst="ellipse">
            <a:avLst/>
          </a:prstGeom>
          <a:solidFill>
            <a:srgbClr val="4C7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 txBox="1"/>
          <p:nvPr/>
        </p:nvSpPr>
        <p:spPr>
          <a:xfrm>
            <a:off x="4325112" y="2057400"/>
            <a:ext cx="3520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72B0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4C72B0"/>
                </a:solidFill>
                <a:latin typeface="Cambria"/>
                <a:ea typeface="Cambria"/>
                <a:cs typeface="Cambria"/>
                <a:sym typeface="Cambria"/>
              </a:rPr>
              <a:t>23,5%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4645152" y="315468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de crescimento composto ao ano (CAGR) na base de clientes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8101584" y="1737360"/>
            <a:ext cx="3520440" cy="283464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3C7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9779508" y="4114800"/>
            <a:ext cx="164592" cy="16459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 txBox="1"/>
          <p:nvPr/>
        </p:nvSpPr>
        <p:spPr>
          <a:xfrm>
            <a:off x="8101584" y="2057400"/>
            <a:ext cx="3520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nov/2020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8421624" y="315468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primeira transação Pix registrada — coincide com o lançamento real no Brasil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548640" y="489204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O canal digital não é uma aposta recente: cresce de forma consistente desde 2015 e já responde por quase metade do estoque de contas do banco.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C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ETAPA 2 — RIGOR ANALÍTICO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Uma anomalia que quase distorceu o KPI de churn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548640" y="1554480"/>
            <a:ext cx="5943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Dezembro/2022 concentra 68% de todas as transações do ano — um volume de 13 a 40 vezes acima do padrão mensal. A investigação (comparação do mix de transações com novembro/2022) descartou um evento de negócio real e apontou para uma característica da geração dos dados.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48640" y="3520440"/>
            <a:ext cx="5943600" cy="1417320"/>
          </a:xfrm>
          <a:prstGeom prst="roundRect">
            <a:avLst>
              <a:gd fmla="val 5161" name="adj"/>
            </a:avLst>
          </a:prstGeom>
          <a:solidFill>
            <a:srgbClr val="FFF6EC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 txBox="1"/>
          <p:nvPr/>
        </p:nvSpPr>
        <p:spPr>
          <a:xfrm>
            <a:off x="777240" y="3657600"/>
            <a:ext cx="5486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Sem o ajuste: </a:t>
            </a: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taxa de inatividade apareceria em 21,1% — otimista demais, inflada pelo pico artificial de dezembro.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6949440" y="150876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Taxa de inatividade (360 dias sem transação)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6949440" y="205740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Sem ajuste (corte 31/12/22)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6949440" y="2350008"/>
            <a:ext cx="3657600" cy="274320"/>
          </a:xfrm>
          <a:prstGeom prst="rect">
            <a:avLst/>
          </a:prstGeom>
          <a:solidFill>
            <a:srgbClr val="E3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6949440" y="2350008"/>
            <a:ext cx="964692" cy="2743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 txBox="1"/>
          <p:nvPr/>
        </p:nvSpPr>
        <p:spPr>
          <a:xfrm>
            <a:off x="7987284" y="2313432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21.1%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6949440" y="283464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Ajustado (corte 30/11/22)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949440" y="3127248"/>
            <a:ext cx="3657600" cy="274320"/>
          </a:xfrm>
          <a:prstGeom prst="rect">
            <a:avLst/>
          </a:prstGeom>
          <a:solidFill>
            <a:srgbClr val="E3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6949440" y="3127248"/>
            <a:ext cx="2935224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 txBox="1"/>
          <p:nvPr/>
        </p:nvSpPr>
        <p:spPr>
          <a:xfrm>
            <a:off x="9957816" y="3090672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64.2%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6949440" y="361188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Histórico 2020 (referência)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949440" y="3904488"/>
            <a:ext cx="3657600" cy="274320"/>
          </a:xfrm>
          <a:prstGeom prst="rect">
            <a:avLst/>
          </a:prstGeom>
          <a:solidFill>
            <a:srgbClr val="E3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6949440" y="3904488"/>
            <a:ext cx="3461004" cy="27432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 txBox="1"/>
          <p:nvPr/>
        </p:nvSpPr>
        <p:spPr>
          <a:xfrm>
            <a:off x="10483596" y="3867912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72B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C72B0"/>
                </a:solidFill>
                <a:latin typeface="Calibri"/>
                <a:ea typeface="Calibri"/>
                <a:cs typeface="Calibri"/>
                <a:sym typeface="Calibri"/>
              </a:rPr>
              <a:t>75.7%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C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845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D8452"/>
                </a:solidFill>
                <a:latin typeface="Calibri"/>
                <a:ea typeface="Calibri"/>
                <a:cs typeface="Calibri"/>
                <a:sym typeface="Calibri"/>
              </a:rPr>
              <a:t>O ACHADO MAIS FORTE DA ANÁLISE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Digital capta contas, mas ainda não converte crédito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build/achado_card.png"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6949440" cy="312724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 txBox="1"/>
          <p:nvPr/>
        </p:nvSpPr>
        <p:spPr>
          <a:xfrm>
            <a:off x="7818120" y="1691640"/>
            <a:ext cx="3794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Uma desproporção de mais de 6x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7818120" y="2423160"/>
            <a:ext cx="37947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A Agência Digital detém 46% das contas do banco, mas responde por apenas 7,5% das propostas de crédito. O canal atrai e retém clientes — mas não os converte em produtos rentáveis na mesma proporção.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7818120" y="4297680"/>
            <a:ext cx="3794760" cy="1005840"/>
          </a:xfrm>
          <a:prstGeom prst="roundRect">
            <a:avLst>
              <a:gd fmla="val 727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8046720" y="4434840"/>
            <a:ext cx="3337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Oportunidade comercial direta para conversão de crédito no canal digital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845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D8452"/>
                </a:solidFill>
                <a:latin typeface="Calibri"/>
                <a:ea typeface="Calibri"/>
                <a:cs typeface="Calibri"/>
                <a:sym typeface="Calibri"/>
              </a:rPr>
              <a:t>ETAPAS 3 E 4 — MOCKUP E 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Do wireframe no Figma ao dashboard vivo no Power BI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8641080" y="16002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Funcionalidades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8641080" y="2103120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 txBox="1"/>
          <p:nvPr/>
        </p:nvSpPr>
        <p:spPr>
          <a:xfrm>
            <a:off x="8641080" y="210312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9025128" y="2048256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KPIs de destaque no topo, leitura em segundos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8641080" y="2816352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 txBox="1"/>
          <p:nvPr/>
        </p:nvSpPr>
        <p:spPr>
          <a:xfrm>
            <a:off x="8641080" y="281635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9025128" y="2761488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Cor consistente: azul = Física, laranja = Digital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8641080" y="3529584"/>
            <a:ext cx="256032" cy="256032"/>
          </a:xfrm>
          <a:prstGeom prst="ellipse">
            <a:avLst/>
          </a:prstGeom>
          <a:solidFill>
            <a:srgbClr val="DD84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 txBox="1"/>
          <p:nvPr/>
        </p:nvSpPr>
        <p:spPr>
          <a:xfrm>
            <a:off x="8641080" y="35295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9025128" y="3474720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Achado principal com destaque visual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8641080" y="4242816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 txBox="1"/>
          <p:nvPr/>
        </p:nvSpPr>
        <p:spPr>
          <a:xfrm>
            <a:off x="8641080" y="424281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9025128" y="4187952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Ressalvas de qualidade de dados sinalizadas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8641080" y="4956048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 txBox="1"/>
          <p:nvPr/>
        </p:nvSpPr>
        <p:spPr>
          <a:xfrm>
            <a:off x="8641080" y="495604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9025128" y="4901184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Filtros e segmentações interativas no Power BI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1386850"/>
            <a:ext cx="7723949" cy="4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C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845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D8452"/>
                </a:solidFill>
                <a:latin typeface="Calibri"/>
                <a:ea typeface="Calibri"/>
                <a:cs typeface="Calibri"/>
                <a:sym typeface="Calibri"/>
              </a:rPr>
              <a:t>DA ANÁLISE À 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Quatro iniciativas para começar agora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548640" y="1600200"/>
            <a:ext cx="544068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3C7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DD84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 txBox="1"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1508760" y="1856232"/>
            <a:ext cx="4251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Impulsionar crédito digital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822960" y="2514600"/>
            <a:ext cx="4892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Simplificar a jornada de originação de crédito dentro do app, reduzindo a dependência de agência física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6263640" y="1600200"/>
            <a:ext cx="544068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3C7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6537960" y="1874520"/>
            <a:ext cx="502920" cy="502920"/>
          </a:xfrm>
          <a:prstGeom prst="ellipse">
            <a:avLst/>
          </a:prstGeom>
          <a:solidFill>
            <a:srgbClr val="4C7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 txBox="1"/>
          <p:nvPr/>
        </p:nvSpPr>
        <p:spPr>
          <a:xfrm>
            <a:off x="6537960" y="1874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7223760" y="1856232"/>
            <a:ext cx="4251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Corrigir o monitoramento de churn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6537960" y="2514600"/>
            <a:ext cx="4892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Adotar o corte ajustado (excluindo dez/2022) como padrão oficial do KPI de inatividade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548640" y="3822192"/>
            <a:ext cx="544068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3C7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822960" y="4096512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 txBox="1"/>
          <p:nvPr/>
        </p:nvSpPr>
        <p:spPr>
          <a:xfrm>
            <a:off x="822960" y="40965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1508760" y="4078224"/>
            <a:ext cx="4251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Validar o funil de propostas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 txBox="1"/>
          <p:nvPr/>
        </p:nvSpPr>
        <p:spPr>
          <a:xfrm>
            <a:off x="822960" y="4736592"/>
            <a:ext cx="4892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Investigar com a área de crédito se a distribuição uniforme reflete o processo real ou um artefato de sistema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6263640" y="3822192"/>
            <a:ext cx="544068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AA3C7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6537960" y="409651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 txBox="1"/>
          <p:nvPr/>
        </p:nvSpPr>
        <p:spPr>
          <a:xfrm>
            <a:off x="6537960" y="40965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7223760" y="4078224"/>
            <a:ext cx="4251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Institucionalizar o dashboard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6537960" y="4736592"/>
            <a:ext cx="4892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Revisões mensais dos KPIs comerciais como rotina de decisão, não um exercício pontual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141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10332720" y="4754880"/>
            <a:ext cx="2743200" cy="2743200"/>
          </a:xfrm>
          <a:prstGeom prst="ellipse">
            <a:avLst/>
          </a:prstGeom>
          <a:solidFill>
            <a:srgbClr val="DD84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 txBox="1"/>
          <p:nvPr/>
        </p:nvSpPr>
        <p:spPr>
          <a:xfrm>
            <a:off x="822960" y="265176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Dados que orientam decisões comerciais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822960" y="35661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1" lang="en-US" sz="1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Obrigado</a:t>
            </a:r>
            <a:r>
              <a:rPr i="1" lang="en-US" sz="1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1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17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2026-09-08T16:43:07Z</dcterms:created>
  <dc:creator>PptxGenJS</dc:creator>
</cp:coreProperties>
</file>